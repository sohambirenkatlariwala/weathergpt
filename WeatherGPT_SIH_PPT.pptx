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1188720"/>
            <a:ext cx="3474720" cy="3474720"/>
          </a:xfrm>
          <a:prstGeom prst="ellipse">
            <a:avLst/>
          </a:prstGeom>
          <a:ln w="12700">
            <a:solidFill>
              <a:srgbClr val="D4A94A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-822960"/>
            <a:ext cx="2743200" cy="2743200"/>
          </a:xfrm>
          <a:prstGeom prst="ellipse">
            <a:avLst/>
          </a:prstGeom>
          <a:ln w="12700">
            <a:solidFill>
              <a:srgbClr val="D4A94A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-457200"/>
            <a:ext cx="2011680" cy="2011680"/>
          </a:xfrm>
          <a:prstGeom prst="ellipse">
            <a:avLst/>
          </a:prstGeom>
          <a:ln w="12700">
            <a:solidFill>
              <a:srgbClr val="D4A94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31168" y="521208"/>
            <a:ext cx="54864" cy="54864"/>
          </a:xfrm>
          <a:prstGeom prst="ellipse">
            <a:avLst/>
          </a:prstGeom>
          <a:solidFill>
            <a:srgbClr val="D4A94A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79608" y="-118872"/>
            <a:ext cx="54864" cy="54864"/>
          </a:xfrm>
          <a:prstGeom prst="ellipse">
            <a:avLst/>
          </a:prstGeom>
          <a:solidFill>
            <a:srgbClr val="D4A94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271248" y="1618488"/>
            <a:ext cx="54864" cy="54864"/>
          </a:xfrm>
          <a:prstGeom prst="ellipse">
            <a:avLst/>
          </a:prstGeom>
          <a:solidFill>
            <a:srgbClr val="D4A94A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9648" y="1984248"/>
            <a:ext cx="54864" cy="54864"/>
          </a:xfrm>
          <a:prstGeom prst="ellipse">
            <a:avLst/>
          </a:prstGeom>
          <a:solidFill>
            <a:srgbClr val="D4A94A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  ·   INTERNAL HACKATHON — ROUND 3</a:t>
            </a:r>
            <a:endParaRPr lang="en-US" sz="1350" dirty="0"/>
          </a:p>
        </p:txBody>
      </p:sp>
      <p:pic>
        <p:nvPicPr>
          <p:cNvPr id="10" name="Image 0" descr="C:\Users\soham\AppData\Local\Temp\claude\C--Users-soham-Desktop-SIH-2026-IITM\f7900fdc-078b-465b-82ad-17378132aa57\scratchpad\iitm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56032"/>
            <a:ext cx="749808" cy="7498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234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WeatherGPT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457200" y="204825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Conversational AI for Weather Forecasting, Alerts, and Climate Information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57200" y="25237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Ministry of Earth Sciences (MoES)   ·   India Meteorological Department (IMD)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2852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3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Grounded Conversational Weather Intelligence for Citizens, Farmers, Researchers &amp; Disaster Managers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3364992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262C63"/>
          </a:solidFill>
          <a:ln w="9525">
            <a:solidFill>
              <a:srgbClr val="3A40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3456432"/>
            <a:ext cx="4910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80" kern="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ID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26068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80760" y="3364992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262C63"/>
          </a:solidFill>
          <a:ln w="9525">
            <a:solidFill>
              <a:srgbClr val="3A40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0216" y="3456432"/>
            <a:ext cx="4910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80" kern="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Disaster Management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4261104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262C63"/>
          </a:solidFill>
          <a:ln w="9525">
            <a:solidFill>
              <a:srgbClr val="3A40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4352544"/>
            <a:ext cx="4910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80" kern="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80760" y="4261104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262C63"/>
          </a:solidFill>
          <a:ln w="9525">
            <a:solidFill>
              <a:srgbClr val="3A40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0216" y="4352544"/>
            <a:ext cx="4910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80" kern="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Vajra Prahar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5157216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262C63"/>
          </a:solidFill>
          <a:ln w="9525">
            <a:solidFill>
              <a:srgbClr val="3A40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" y="5248656"/>
            <a:ext cx="4910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80" kern="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LEADER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Himanshu Ranjan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80760" y="5157216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262C63"/>
          </a:solidFill>
          <a:ln w="9525">
            <a:solidFill>
              <a:srgbClr val="3A40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0216" y="5248656"/>
            <a:ext cx="4910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80" kern="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 Madras BS Degree Programme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2A317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IITM BS Degree Programme   ·   Presentation Template, Round 3 SIH Internal Hackathon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19695" y="6510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26068   ·   Theme: Disaster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12064" cy="512064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78992" y="4846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Details</a:t>
            </a:r>
            <a:endParaRPr lang="en-US" sz="3000" dirty="0"/>
          </a:p>
        </p:txBody>
      </p:sp>
      <p:pic>
        <p:nvPicPr>
          <p:cNvPr id="6" name="Image 0" descr="C:\Users\soham\AppData\Local\Temp\claude\C--Users-soham-Desktop-SIH-2026-IITM\f7900fdc-078b-465b-82ad-17378132aa57\scratchpad\iitm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1945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D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IITM BS Degree Programme</a:t>
            </a:r>
            <a:pPr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SIH Internal Hackathon, Presentation Template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48495" y="6510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01 of 08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097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COMPOSITION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3246120" cy="4809744"/>
          </a:xfrm>
          <a:prstGeom prst="roundRect">
            <a:avLst>
              <a:gd name="adj" fmla="val 1690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1572768"/>
            <a:ext cx="27706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Vajra Prahar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complementary disciplines mapped directly onto the six architecture layers of WeatherGPT.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&amp; AI Orchestration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&amp; API Engineering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&amp; UI/UX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LLM, RAG &amp; NLP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Meteorological Data &amp; GIS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Systems, DevOps &amp; QA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371600"/>
          <a:ext cx="7863840" cy="4809744"/>
        </p:xfrm>
        <a:graphic>
          <a:graphicData uri="http://schemas.openxmlformats.org/drawingml/2006/table">
            <a:tbl>
              <a:tblPr/>
              <a:tblGrid>
                <a:gridCol w="1051560"/>
                <a:gridCol w="1828800"/>
                <a:gridCol w="4983480"/>
              </a:tblGrid>
              <a:tr h="687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Member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 &amp; Technical Contribution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55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Team Leader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5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Himanshu Ranjan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Architecture &amp; AI Orchestration — owns the Weather Intelligence Engine, LLM/RAG design and tool-calling contracts.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Member 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5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Aryan Kumar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Backend Engineering — Flask REST/WebSocket APIs, service orchestration and integration with the Intelligence Engine.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Member 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5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Nirban Roy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Flutter Mobile App &amp; UI/UX — cross-platform client, conversational interface and map/alert visualization.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Member 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5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Soham Biren Katlariwala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AI/LLM &amp; RAG Engineering — retrieval pipeline (pgvector), tool-calling schema and evidence-grounding logic.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Member 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5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Rudra Singh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Meteorological Data &amp; GIS — IMD/WIS2/GFS/WRF/MOSDAC ingestion, PostGIS spatial-risk analysis.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Member 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5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Swati Singh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Systems, DevOps &amp; QA — TimescaleDB/Redis, Docker deployment, testing &amp; validation.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12064" cy="512064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78992" y="4846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/ Approach / Proposed Solution</a:t>
            </a:r>
            <a:endParaRPr lang="en-US" sz="3000" dirty="0"/>
          </a:p>
        </p:txBody>
      </p:sp>
      <p:pic>
        <p:nvPicPr>
          <p:cNvPr id="6" name="Image 0" descr="C:\Users\soham\AppData\Local\Temp\claude\C--Users-soham-Desktop-SIH-2026-IITM\f7900fdc-078b-465b-82ad-17378132aa57\scratchpad\iitm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1945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D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IITM BS Degree Programme</a:t>
            </a:r>
            <a:pPr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SIH Internal Hackathon, Presentation Template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48495" y="6510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02 of 08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338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WEATHERGPT RESPONDS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426464"/>
            <a:ext cx="6309360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1426464"/>
            <a:ext cx="6053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  ·  Voice  ·  Location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rot="10800000">
            <a:off x="3520440" y="2066544"/>
            <a:ext cx="182880" cy="137160"/>
          </a:xfrm>
          <a:prstGeom prst="triangle">
            <a:avLst/>
          </a:prstGeom>
          <a:solidFill>
            <a:srgbClr val="D4A94A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221992"/>
            <a:ext cx="6309360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" y="2221992"/>
            <a:ext cx="6053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 &amp; INTENT DETECTION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BHASHINI ASR  ·  NLU  ·  Entity / Location Extraction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 rot="10800000">
            <a:off x="3520440" y="2862072"/>
            <a:ext cx="182880" cy="137160"/>
          </a:xfrm>
          <a:prstGeom prst="triangle">
            <a:avLst/>
          </a:prstGeom>
          <a:solidFill>
            <a:srgbClr val="D4A94A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3017520"/>
            <a:ext cx="6309360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3017520"/>
            <a:ext cx="6053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WEATHERGPT CONVERSATIONAL LAYER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+ RAG + Tool-Calling Orchestrator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 rot="10800000">
            <a:off x="3520440" y="3657600"/>
            <a:ext cx="182880" cy="137160"/>
          </a:xfrm>
          <a:prstGeom prst="triangle">
            <a:avLst/>
          </a:prstGeom>
          <a:solidFill>
            <a:srgbClr val="D4A94A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3813048"/>
            <a:ext cx="6309360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3813048"/>
            <a:ext cx="6053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INTELLIGENCE ENGINE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· Alert · GIS/Risk · Climate · Advisory · Evidence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 rot="10800000">
            <a:off x="3520440" y="4453128"/>
            <a:ext cx="182880" cy="137160"/>
          </a:xfrm>
          <a:prstGeom prst="triangle">
            <a:avLst/>
          </a:prstGeom>
          <a:solidFill>
            <a:srgbClr val="D4A94A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4608576"/>
            <a:ext cx="6309360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" y="4608576"/>
            <a:ext cx="6053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AUTHORITATIVE SOURCES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IMD · WIS2/MQTT · GFS/WRF · MOSDAC · Radar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 rot="10800000">
            <a:off x="3520440" y="5248656"/>
            <a:ext cx="182880" cy="137160"/>
          </a:xfrm>
          <a:prstGeom prst="triangle">
            <a:avLst/>
          </a:prstGeom>
          <a:solidFill>
            <a:srgbClr val="D4A94A"/>
          </a:solidFill>
          <a:ln/>
        </p:spPr>
      </p:sp>
      <p:sp>
        <p:nvSpPr>
          <p:cNvPr id="26" name="Shape 23"/>
          <p:cNvSpPr/>
          <p:nvPr/>
        </p:nvSpPr>
        <p:spPr>
          <a:xfrm>
            <a:off x="457200" y="5404104"/>
            <a:ext cx="6309360" cy="621792"/>
          </a:xfrm>
          <a:prstGeom prst="roundRect">
            <a:avLst>
              <a:gd name="adj" fmla="val 7353"/>
            </a:avLst>
          </a:prstGeom>
          <a:solidFill>
            <a:srgbClr val="D4A94A"/>
          </a:solidFill>
          <a:ln w="9525">
            <a:solidFill>
              <a:srgbClr val="B8872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" y="5404104"/>
            <a:ext cx="6053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41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GROUNDED RESPONSE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4A3B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 · Map · Voice · Alert  (Source + Time + Horizon)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086600" y="1426464"/>
            <a:ext cx="4663440" cy="1508760"/>
          </a:xfrm>
          <a:prstGeom prst="roundRect">
            <a:avLst>
              <a:gd name="adj" fmla="val 3636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51192" y="1591056"/>
            <a:ext cx="365760" cy="365760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0" name="Text 27"/>
          <p:cNvSpPr/>
          <p:nvPr/>
        </p:nvSpPr>
        <p:spPr>
          <a:xfrm>
            <a:off x="7251192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763256" y="1572768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360920" y="1938528"/>
            <a:ext cx="41513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intelligence is fragmented across bulletins, NWP output, satellite/radar products and multiple portals — one answer requires cross-referencing several systems.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086600" y="3081528"/>
            <a:ext cx="4663440" cy="1691640"/>
          </a:xfrm>
          <a:prstGeom prst="roundRect">
            <a:avLst>
              <a:gd name="adj" fmla="val 3243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51192" y="3246120"/>
            <a:ext cx="365760" cy="365760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5" name="Text 32"/>
          <p:cNvSpPr/>
          <p:nvPr/>
        </p:nvSpPr>
        <p:spPr>
          <a:xfrm>
            <a:off x="7251192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763256" y="3227832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360920" y="3593592"/>
            <a:ext cx="41513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WeatherGPT is a multilingual, voice-enabled, location-aware platform unifying authoritative data, forecasts, warnings and climate history — delivered via Flutter and a Flask-backed web app.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7086600" y="4919472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251192" y="5084064"/>
            <a:ext cx="365760" cy="365760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40" name="Text 37"/>
          <p:cNvSpPr/>
          <p:nvPr/>
        </p:nvSpPr>
        <p:spPr>
          <a:xfrm>
            <a:off x="7251192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7763256" y="5065776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It Different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360920" y="5431536"/>
            <a:ext cx="41513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LLM never invents weather. Every response is retrieved via tool-calling, checked against GIS context and alert rules, then explained in grounded, cited language.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12064" cy="512064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78992" y="4846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 and Uniqueness</a:t>
            </a:r>
            <a:endParaRPr lang="en-US" sz="3000" dirty="0"/>
          </a:p>
        </p:txBody>
      </p:sp>
      <p:pic>
        <p:nvPicPr>
          <p:cNvPr id="6" name="Image 0" descr="C:\Users\soham\AppData\Local\Temp\claude\C--Users-soham-Desktop-SIH-2026-IITM\f7900fdc-078b-465b-82ad-17378132aa57\scratchpad\iitm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1945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D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IITM BS Degree Programme</a:t>
            </a:r>
            <a:pPr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SIH Internal Hackathon, Presentation Template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48495" y="6510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03 of 08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338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POSITIONING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426464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1426464"/>
            <a:ext cx="5230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INTEGRATION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199339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57200" y="2295144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" y="2295144"/>
            <a:ext cx="5230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GROUNDED CONVERSATIONAL INTELLIGENCE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286207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57200" y="3163824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3163824"/>
            <a:ext cx="5230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LOCATION-AWARE DECISION SUPPORT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373075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457200" y="4032504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032504"/>
            <a:ext cx="5230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DETERMINISTIC, RULE-BASED ALERTING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459943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457200" y="4901184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" y="4901184"/>
            <a:ext cx="5230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MULTILINGUAL VOICE ACCESSIBILITY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546811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457200" y="5769864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D4A94A"/>
          </a:solidFill>
          <a:ln w="9525">
            <a:solidFill>
              <a:srgbClr val="B8872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" y="5769864"/>
            <a:ext cx="5230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WEATHERGPT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355080" y="1426464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FBEAEA"/>
          </a:solidFill>
          <a:ln/>
        </p:spPr>
      </p:sp>
      <p:sp>
        <p:nvSpPr>
          <p:cNvPr id="29" name="Text 26"/>
          <p:cNvSpPr/>
          <p:nvPr/>
        </p:nvSpPr>
        <p:spPr>
          <a:xfrm>
            <a:off x="6574536" y="15636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SOLUTIONS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574536" y="1883664"/>
            <a:ext cx="4956048" cy="0"/>
          </a:xfrm>
          <a:prstGeom prst="line">
            <a:avLst/>
          </a:prstGeom>
          <a:noFill/>
          <a:ln w="9525">
            <a:solidFill>
              <a:srgbClr val="8C2F2F">
                <a:alpha val="4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74536" y="1993392"/>
            <a:ext cx="4956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IMD portal / mausam app — authoritative, but users must interpret bulletins and multiple products themselves.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Generic weather apps — quick forecasts, but no cross-source synthesis or GIS-based hazard reasoning.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Generic LLM chatbots — fluent language, but no live grounding; can fabricate specific weather values.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355080" y="3968496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E8F5EC"/>
          </a:solidFill>
          <a:ln/>
        </p:spPr>
      </p:sp>
      <p:sp>
        <p:nvSpPr>
          <p:cNvPr id="33" name="Text 30"/>
          <p:cNvSpPr/>
          <p:nvPr/>
        </p:nvSpPr>
        <p:spPr>
          <a:xfrm>
            <a:off x="6574536" y="410565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WHAT'S GENUINELY NEW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574536" y="4425696"/>
            <a:ext cx="4956048" cy="0"/>
          </a:xfrm>
          <a:prstGeom prst="line">
            <a:avLst/>
          </a:prstGeom>
          <a:noFill/>
          <a:ln w="9525">
            <a:solidFill>
              <a:srgbClr val="1F6B3A">
                <a:alpha val="4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74536" y="4535424"/>
            <a:ext cx="4956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Multi-source grounding — IMD, WIS2/MQTT, GFS/WRF and MOSDAC unified behind retrieval-only tool-calling.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Deterministic, rule-based alerting — severity runs in code against authoritative thresholds, staying auditable.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Location-aware, persona-based advisories via PostGIS, with BHASHINI voice accessibility in Indian languages.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12064" cy="512064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78992" y="4846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000" dirty="0"/>
          </a:p>
        </p:txBody>
      </p:sp>
      <p:pic>
        <p:nvPicPr>
          <p:cNvPr id="6" name="Image 0" descr="C:\Users\soham\AppData\Local\Temp\claude\C--Users-soham-Desktop-SIH-2026-IITM\f7900fdc-078b-465b-82ad-17378132aa57\scratchpad\iitm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1945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D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IITM BS Degree Programme</a:t>
            </a:r>
            <a:pPr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SIH Internal Hackathon, Presentation Template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48495" y="6510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04 of 08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338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— END TO END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6766560" cy="4956048"/>
          </a:xfrm>
          <a:prstGeom prst="roundRect">
            <a:avLst>
              <a:gd name="adj" fmla="val 1476"/>
            </a:avLst>
          </a:prstGeom>
          <a:solidFill>
            <a:srgbClr val="F3F4F8"/>
          </a:solidFill>
          <a:ln w="15875">
            <a:solidFill>
              <a:srgbClr val="1B2456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154680" y="192024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B245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2103120"/>
            <a:ext cx="219456" cy="21945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2377440"/>
            <a:ext cx="502920" cy="384048"/>
          </a:xfrm>
          <a:prstGeom prst="triangle">
            <a:avLst/>
          </a:prstGeom>
          <a:solidFill>
            <a:srgbClr val="1B2456"/>
          </a:solidFill>
          <a:ln/>
        </p:spPr>
      </p:sp>
      <p:sp>
        <p:nvSpPr>
          <p:cNvPr id="15" name="Shape 12"/>
          <p:cNvSpPr/>
          <p:nvPr/>
        </p:nvSpPr>
        <p:spPr>
          <a:xfrm>
            <a:off x="3886200" y="2240280"/>
            <a:ext cx="566928" cy="521208"/>
          </a:xfrm>
          <a:prstGeom prst="triangle">
            <a:avLst/>
          </a:prstGeom>
          <a:solidFill>
            <a:srgbClr val="374079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9900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ARCHITECTURE DIAGRAM HERE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33192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end-to-end system diagram — generate from architecture_diagram_prompt.md and paste in as a 16:9 image.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3703320"/>
            <a:ext cx="603504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80390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— LAYERS THE DIAGRAM MUST SHOW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" y="4078224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User — Text · Voice · Location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Mobile &amp; Web — Flutter → WeatherGPT Web (HTML/CSS/JS)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Backend — Flask · REST APIs · WebSockets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Conversational AI — LLM · RAG · Tool-Calling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Weather Intelligence Engine — Forecast/Alert/GIS/Climate/Advisory/Evidence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977640" y="4078224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Meteorological Sources — IMD · WIS2 · GFS · WRF · MOSDAC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Data &amp; Storage — PostgreSQL · PostGIS · TimescaleDB · Redis · pgvector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Grounded Response Engine — Evidence + Source + Time + Horizon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User Response — Text · Map · Voice · Alert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635240" y="113385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VOICE &amp; MULTILINGUAL PIPELINE (BHASHINI)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635240" y="1426464"/>
            <a:ext cx="760781" cy="658368"/>
          </a:xfrm>
          <a:prstGeom prst="roundRect">
            <a:avLst>
              <a:gd name="adj" fmla="val 6944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62672" y="1426464"/>
            <a:ext cx="7059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Voice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77733" y="1426464"/>
            <a:ext cx="109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94A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469173" y="1426464"/>
            <a:ext cx="760781" cy="658368"/>
          </a:xfrm>
          <a:prstGeom prst="roundRect">
            <a:avLst>
              <a:gd name="adj" fmla="val 6944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96605" y="1426464"/>
            <a:ext cx="7059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ASR +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Lang. ID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211666" y="1426464"/>
            <a:ext cx="109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94A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303106" y="1426464"/>
            <a:ext cx="760781" cy="658368"/>
          </a:xfrm>
          <a:prstGeom prst="roundRect">
            <a:avLst>
              <a:gd name="adj" fmla="val 6944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30538" y="1426464"/>
            <a:ext cx="7059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WeatherGPT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045598" y="1426464"/>
            <a:ext cx="109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94A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137038" y="1426464"/>
            <a:ext cx="760781" cy="658368"/>
          </a:xfrm>
          <a:prstGeom prst="roundRect">
            <a:avLst>
              <a:gd name="adj" fmla="val 6944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64470" y="1426464"/>
            <a:ext cx="7059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Translate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(BHASHINI)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79531" y="1426464"/>
            <a:ext cx="109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94A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0970971" y="1426464"/>
            <a:ext cx="760781" cy="658368"/>
          </a:xfrm>
          <a:prstGeom prst="roundRect">
            <a:avLst>
              <a:gd name="adj" fmla="val 6944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998403" y="1426464"/>
            <a:ext cx="7059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TTS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635240" y="228600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WEATHERGPT STAYS GROUNDED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7635240" y="2542032"/>
            <a:ext cx="4096512" cy="1005840"/>
          </a:xfrm>
          <a:prstGeom prst="roundRect">
            <a:avLst>
              <a:gd name="adj" fmla="val 5455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18120" y="2542032"/>
            <a:ext cx="3730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selects tool → data source queried → evidence retrieved → supplied to LLM → grounded, cited answer.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LLM never predicts or invents weather values.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635240" y="371246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7635240" y="3950208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635240" y="4206240"/>
            <a:ext cx="1316736" cy="402336"/>
          </a:xfrm>
          <a:prstGeom prst="roundRect">
            <a:avLst>
              <a:gd name="adj" fmla="val 11364"/>
            </a:avLst>
          </a:prstGeom>
          <a:solidFill>
            <a:srgbClr val="1E2555"/>
          </a:solidFill>
          <a:ln/>
        </p:spPr>
      </p:sp>
      <p:sp>
        <p:nvSpPr>
          <p:cNvPr id="43" name="Text 40"/>
          <p:cNvSpPr/>
          <p:nvPr/>
        </p:nvSpPr>
        <p:spPr>
          <a:xfrm>
            <a:off x="7635240" y="4206240"/>
            <a:ext cx="13167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 / Dart</a:t>
            </a:r>
            <a:endParaRPr lang="en-US" sz="930" dirty="0"/>
          </a:p>
        </p:txBody>
      </p:sp>
      <p:sp>
        <p:nvSpPr>
          <p:cNvPr id="44" name="Shape 41"/>
          <p:cNvSpPr/>
          <p:nvPr/>
        </p:nvSpPr>
        <p:spPr>
          <a:xfrm>
            <a:off x="9025128" y="4206240"/>
            <a:ext cx="1316736" cy="402336"/>
          </a:xfrm>
          <a:prstGeom prst="roundRect">
            <a:avLst>
              <a:gd name="adj" fmla="val 11364"/>
            </a:avLst>
          </a:prstGeom>
          <a:solidFill>
            <a:srgbClr val="1E2555"/>
          </a:solidFill>
          <a:ln/>
        </p:spPr>
      </p:sp>
      <p:sp>
        <p:nvSpPr>
          <p:cNvPr id="45" name="Text 42"/>
          <p:cNvSpPr/>
          <p:nvPr/>
        </p:nvSpPr>
        <p:spPr>
          <a:xfrm>
            <a:off x="9025128" y="4206240"/>
            <a:ext cx="13167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 / Python</a:t>
            </a:r>
            <a:endParaRPr lang="en-US" sz="930" dirty="0"/>
          </a:p>
        </p:txBody>
      </p:sp>
      <p:sp>
        <p:nvSpPr>
          <p:cNvPr id="46" name="Shape 43"/>
          <p:cNvSpPr/>
          <p:nvPr/>
        </p:nvSpPr>
        <p:spPr>
          <a:xfrm>
            <a:off x="10415016" y="4206240"/>
            <a:ext cx="1316736" cy="402336"/>
          </a:xfrm>
          <a:prstGeom prst="roundRect">
            <a:avLst>
              <a:gd name="adj" fmla="val 11364"/>
            </a:avLst>
          </a:prstGeom>
          <a:solidFill>
            <a:srgbClr val="1E2555"/>
          </a:solidFill>
          <a:ln/>
        </p:spPr>
      </p:sp>
      <p:sp>
        <p:nvSpPr>
          <p:cNvPr id="47" name="Text 44"/>
          <p:cNvSpPr/>
          <p:nvPr/>
        </p:nvSpPr>
        <p:spPr>
          <a:xfrm>
            <a:off x="10415016" y="4206240"/>
            <a:ext cx="13167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+ RAG + Tools</a:t>
            </a:r>
            <a:endParaRPr lang="en-US" sz="930" dirty="0"/>
          </a:p>
        </p:txBody>
      </p:sp>
      <p:sp>
        <p:nvSpPr>
          <p:cNvPr id="48" name="Text 45"/>
          <p:cNvSpPr/>
          <p:nvPr/>
        </p:nvSpPr>
        <p:spPr>
          <a:xfrm>
            <a:off x="7635240" y="4718304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SUPPORTING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635240" y="4974336"/>
            <a:ext cx="1316736" cy="402336"/>
          </a:xfrm>
          <a:prstGeom prst="roundRect">
            <a:avLst>
              <a:gd name="adj" fmla="val 11364"/>
            </a:avLst>
          </a:prstGeom>
          <a:solidFill>
            <a:srgbClr val="3D437E"/>
          </a:solidFill>
          <a:ln/>
        </p:spPr>
      </p:sp>
      <p:sp>
        <p:nvSpPr>
          <p:cNvPr id="50" name="Text 47"/>
          <p:cNvSpPr/>
          <p:nvPr/>
        </p:nvSpPr>
        <p:spPr>
          <a:xfrm>
            <a:off x="7635240" y="4974336"/>
            <a:ext cx="13167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PostGIS / TimescaleDB</a:t>
            </a:r>
            <a:endParaRPr lang="en-US" sz="930" dirty="0"/>
          </a:p>
        </p:txBody>
      </p:sp>
      <p:sp>
        <p:nvSpPr>
          <p:cNvPr id="51" name="Shape 48"/>
          <p:cNvSpPr/>
          <p:nvPr/>
        </p:nvSpPr>
        <p:spPr>
          <a:xfrm>
            <a:off x="9025128" y="4974336"/>
            <a:ext cx="1316736" cy="402336"/>
          </a:xfrm>
          <a:prstGeom prst="roundRect">
            <a:avLst>
              <a:gd name="adj" fmla="val 11364"/>
            </a:avLst>
          </a:prstGeom>
          <a:solidFill>
            <a:srgbClr val="3D437E"/>
          </a:solidFill>
          <a:ln/>
        </p:spPr>
      </p:sp>
      <p:sp>
        <p:nvSpPr>
          <p:cNvPr id="52" name="Text 49"/>
          <p:cNvSpPr/>
          <p:nvPr/>
        </p:nvSpPr>
        <p:spPr>
          <a:xfrm>
            <a:off x="9025128" y="4974336"/>
            <a:ext cx="13167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Redis / pgvector</a:t>
            </a:r>
            <a:endParaRPr lang="en-US" sz="930" dirty="0"/>
          </a:p>
        </p:txBody>
      </p:sp>
      <p:sp>
        <p:nvSpPr>
          <p:cNvPr id="53" name="Shape 50"/>
          <p:cNvSpPr/>
          <p:nvPr/>
        </p:nvSpPr>
        <p:spPr>
          <a:xfrm>
            <a:off x="10415016" y="4974336"/>
            <a:ext cx="1316736" cy="402336"/>
          </a:xfrm>
          <a:prstGeom prst="roundRect">
            <a:avLst>
              <a:gd name="adj" fmla="val 11364"/>
            </a:avLst>
          </a:prstGeom>
          <a:solidFill>
            <a:srgbClr val="3D437E"/>
          </a:solidFill>
          <a:ln/>
        </p:spPr>
      </p:sp>
      <p:sp>
        <p:nvSpPr>
          <p:cNvPr id="54" name="Text 51"/>
          <p:cNvSpPr/>
          <p:nvPr/>
        </p:nvSpPr>
        <p:spPr>
          <a:xfrm>
            <a:off x="10415016" y="4974336"/>
            <a:ext cx="13167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BHASHINI ASR/TTS</a:t>
            </a:r>
            <a:endParaRPr lang="en-US" sz="930" dirty="0"/>
          </a:p>
        </p:txBody>
      </p:sp>
      <p:sp>
        <p:nvSpPr>
          <p:cNvPr id="55" name="Text 52"/>
          <p:cNvSpPr/>
          <p:nvPr/>
        </p:nvSpPr>
        <p:spPr>
          <a:xfrm>
            <a:off x="7635240" y="5486400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/ SCALE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635240" y="5742432"/>
            <a:ext cx="1316736" cy="402336"/>
          </a:xfrm>
          <a:prstGeom prst="roundRect">
            <a:avLst>
              <a:gd name="adj" fmla="val 11364"/>
            </a:avLst>
          </a:prstGeom>
          <a:solidFill>
            <a:srgbClr val="62656E"/>
          </a:solidFill>
          <a:ln/>
        </p:spPr>
      </p:sp>
      <p:sp>
        <p:nvSpPr>
          <p:cNvPr id="57" name="Text 54"/>
          <p:cNvSpPr/>
          <p:nvPr/>
        </p:nvSpPr>
        <p:spPr>
          <a:xfrm>
            <a:off x="7635240" y="5742432"/>
            <a:ext cx="13167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Kubernetes</a:t>
            </a:r>
            <a:endParaRPr lang="en-US" sz="930" dirty="0"/>
          </a:p>
        </p:txBody>
      </p:sp>
      <p:sp>
        <p:nvSpPr>
          <p:cNvPr id="58" name="Shape 55"/>
          <p:cNvSpPr/>
          <p:nvPr/>
        </p:nvSpPr>
        <p:spPr>
          <a:xfrm>
            <a:off x="9025128" y="5742432"/>
            <a:ext cx="1316736" cy="402336"/>
          </a:xfrm>
          <a:prstGeom prst="roundRect">
            <a:avLst>
              <a:gd name="adj" fmla="val 11364"/>
            </a:avLst>
          </a:prstGeom>
          <a:solidFill>
            <a:srgbClr val="62656E"/>
          </a:solidFill>
          <a:ln/>
        </p:spPr>
      </p:sp>
      <p:sp>
        <p:nvSpPr>
          <p:cNvPr id="59" name="Text 56"/>
          <p:cNvSpPr/>
          <p:nvPr/>
        </p:nvSpPr>
        <p:spPr>
          <a:xfrm>
            <a:off x="9025128" y="5742432"/>
            <a:ext cx="13167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Prometheus / Grafana</a:t>
            </a:r>
            <a:endParaRPr lang="en-US" sz="930" dirty="0"/>
          </a:p>
        </p:txBody>
      </p:sp>
      <p:sp>
        <p:nvSpPr>
          <p:cNvPr id="60" name="Shape 57"/>
          <p:cNvSpPr/>
          <p:nvPr/>
        </p:nvSpPr>
        <p:spPr>
          <a:xfrm>
            <a:off x="10415016" y="5742432"/>
            <a:ext cx="1316736" cy="402336"/>
          </a:xfrm>
          <a:prstGeom prst="roundRect">
            <a:avLst>
              <a:gd name="adj" fmla="val 11364"/>
            </a:avLst>
          </a:prstGeom>
          <a:solidFill>
            <a:srgbClr val="62656E"/>
          </a:solidFill>
          <a:ln/>
        </p:spPr>
      </p:sp>
      <p:sp>
        <p:nvSpPr>
          <p:cNvPr id="61" name="Text 58"/>
          <p:cNvSpPr/>
          <p:nvPr/>
        </p:nvSpPr>
        <p:spPr>
          <a:xfrm>
            <a:off x="10415016" y="5742432"/>
            <a:ext cx="13167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SMS / IVR Fallback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12064" cy="512064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78992" y="4846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000" dirty="0"/>
          </a:p>
        </p:txBody>
      </p:sp>
      <p:pic>
        <p:nvPicPr>
          <p:cNvPr id="6" name="Image 0" descr="C:\Users\soham\AppData\Local\Temp\claude\C--Users-soham-Desktop-SIH-2026-IITM\f7900fdc-078b-465b-82ad-17378132aa57\scratchpad\iitm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1945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D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IITM BS Degree Programme</a:t>
            </a:r>
            <a:pPr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SIH Internal Hackathon, Presentation Template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48495" y="6510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05 of 08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338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PATH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426464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1426464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 COMPOSE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development &amp; prototype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rot="10800000">
            <a:off x="2446020" y="2039112"/>
            <a:ext cx="182880" cy="137160"/>
          </a:xfrm>
          <a:prstGeom prst="triangle">
            <a:avLst/>
          </a:prstGeom>
          <a:solidFill>
            <a:srgbClr val="D4A94A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185416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" y="2185416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container images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 rot="10800000">
            <a:off x="2446020" y="2798064"/>
            <a:ext cx="182880" cy="137160"/>
          </a:xfrm>
          <a:prstGeom prst="triangle">
            <a:avLst/>
          </a:prstGeom>
          <a:solidFill>
            <a:srgbClr val="D4A94A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944368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2944368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NGINX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Reverse proxy &amp; routing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 rot="10800000">
            <a:off x="2446020" y="3557016"/>
            <a:ext cx="182880" cy="137160"/>
          </a:xfrm>
          <a:prstGeom prst="triangle">
            <a:avLst/>
          </a:prstGeom>
          <a:solidFill>
            <a:srgbClr val="D4A94A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3703320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E2555"/>
          </a:solidFill>
          <a:ln w="9525">
            <a:solidFill>
              <a:srgbClr val="2A31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3703320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/ CONTAINER HOSTING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C7CC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AWS · GCP · Azure · Render · Cloud Run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 rot="10800000">
            <a:off x="2446020" y="4315968"/>
            <a:ext cx="182880" cy="137160"/>
          </a:xfrm>
          <a:prstGeom prst="triangle">
            <a:avLst/>
          </a:prstGeom>
          <a:solidFill>
            <a:srgbClr val="D4A94A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4462272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D4A94A"/>
          </a:solidFill>
          <a:ln w="9525">
            <a:solidFill>
              <a:srgbClr val="B887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" y="4462272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41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 SERVICES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4A3B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Kubernetes-ready for production scale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5212080"/>
            <a:ext cx="4160520" cy="621792"/>
          </a:xfrm>
          <a:prstGeom prst="roundRect">
            <a:avLst>
              <a:gd name="adj" fmla="val 8824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" y="5212080"/>
            <a:ext cx="3831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OBSERVABILITY (SUPPORTING)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Prometheus · Grafana · OpenTelemetry — production-readiness layer, not prototype-critical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92040" y="11338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 RISK MANAGEMENT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892040" y="1426464"/>
            <a:ext cx="3383280" cy="3968496"/>
          </a:xfrm>
          <a:prstGeom prst="roundRect">
            <a:avLst>
              <a:gd name="adj" fmla="val 1622"/>
            </a:avLst>
          </a:prstGeom>
          <a:solidFill>
            <a:srgbClr val="FBEAEA"/>
          </a:solidFill>
          <a:ln/>
        </p:spPr>
      </p:sp>
      <p:sp>
        <p:nvSpPr>
          <p:cNvPr id="29" name="Text 26"/>
          <p:cNvSpPr/>
          <p:nvPr/>
        </p:nvSpPr>
        <p:spPr>
          <a:xfrm>
            <a:off x="5111496" y="156362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CHALLENGES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111496" y="1883664"/>
            <a:ext cx="2944368" cy="0"/>
          </a:xfrm>
          <a:prstGeom prst="line">
            <a:avLst/>
          </a:prstGeom>
          <a:noFill/>
          <a:ln w="9525">
            <a:solidFill>
              <a:srgbClr val="8C2F2F">
                <a:alpha val="4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11496" y="1993392"/>
            <a:ext cx="2944368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Heterogeneous data across IMD, GFS, WRF &amp; MOSDAC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uncertainty &amp; finite NWP resolution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hallucination risk in conversational replies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scalability under concurrent load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Multilingual / Indian-language speech accuracy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 &amp; low-bandwidth connectivity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458200" y="1426464"/>
            <a:ext cx="3383280" cy="3968496"/>
          </a:xfrm>
          <a:prstGeom prst="roundRect">
            <a:avLst>
              <a:gd name="adj" fmla="val 1622"/>
            </a:avLst>
          </a:prstGeom>
          <a:solidFill>
            <a:srgbClr val="E8F5EC"/>
          </a:solidFill>
          <a:ln/>
        </p:spPr>
      </p:sp>
      <p:sp>
        <p:nvSpPr>
          <p:cNvPr id="33" name="Text 30"/>
          <p:cNvSpPr/>
          <p:nvPr/>
        </p:nvSpPr>
        <p:spPr>
          <a:xfrm>
            <a:off x="8677656" y="156362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 STRATEGY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677656" y="1883664"/>
            <a:ext cx="2944368" cy="0"/>
          </a:xfrm>
          <a:prstGeom prst="line">
            <a:avLst/>
          </a:prstGeom>
          <a:noFill/>
          <a:ln w="9525">
            <a:solidFill>
              <a:srgbClr val="1F6B3A">
                <a:alpha val="4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77656" y="1993392"/>
            <a:ext cx="2944368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schemas, normalization &amp; validation before storage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Explicit source/timestamp/horizon tagging; WRF used regionally, not nationwide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 + mandatory tool-calling + response validation; no free-generated values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Redis caching, async processing, containerized horizontal scaling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BHASHINI ASR + language detection + text fallback on low confidence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Lightweight UI, caching, compressed payloads; SMS/IVR as future feature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4892040" y="5522976"/>
            <a:ext cx="6949440" cy="877824"/>
          </a:xfrm>
          <a:prstGeom prst="roundRect">
            <a:avLst>
              <a:gd name="adj" fmla="val 6250"/>
            </a:avLst>
          </a:prstGeom>
          <a:solidFill>
            <a:srgbClr val="141A42"/>
          </a:solidFill>
          <a:ln/>
        </p:spPr>
      </p:sp>
      <p:sp>
        <p:nvSpPr>
          <p:cNvPr id="37" name="Text 34"/>
          <p:cNvSpPr/>
          <p:nvPr/>
        </p:nvSpPr>
        <p:spPr>
          <a:xfrm>
            <a:off x="5129784" y="5522976"/>
            <a:ext cx="6473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050" b="1" spc="100" kern="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 PRINCIPLE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mitigation maps to a concrete, testable engineering control — not merely an intention statement.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12064" cy="512064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78992" y="4846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000" dirty="0"/>
          </a:p>
        </p:txBody>
      </p:sp>
      <p:pic>
        <p:nvPicPr>
          <p:cNvPr id="6" name="Image 0" descr="C:\Users\soham\AppData\Local\Temp\claude\C--Users-soham-Desktop-SIH-2026-IITM\f7900fdc-078b-465b-82ad-17378132aa57\scratchpad\iitm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1945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D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IITM BS Degree Programme</a:t>
            </a:r>
            <a:pPr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SIH Internal Hackathon, Presentation Template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48495" y="6510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06 of 08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338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BENEFITS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426464"/>
            <a:ext cx="30175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627632"/>
            <a:ext cx="146304" cy="146304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361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Citizens &amp; Rural Users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96112" y="1847088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Voice-first, natural-language access to weather in Indian languages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0" y="1426464"/>
            <a:ext cx="30175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0" y="1627632"/>
            <a:ext cx="146304" cy="146304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7" name="Text 14"/>
          <p:cNvSpPr/>
          <p:nvPr/>
        </p:nvSpPr>
        <p:spPr>
          <a:xfrm>
            <a:off x="4096512" y="15361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096512" y="1847088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Crop-weather advisory assistance using rainfall, temperature &amp; humidity context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054096"/>
            <a:ext cx="30175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3255264"/>
            <a:ext cx="146304" cy="146304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1" name="Text 18"/>
          <p:cNvSpPr/>
          <p:nvPr/>
        </p:nvSpPr>
        <p:spPr>
          <a:xfrm>
            <a:off x="896112" y="316382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Disaster Managers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96112" y="347472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Location-specific hazard briefing &amp; spatial risk intelligence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0" y="3054096"/>
            <a:ext cx="30175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40480" y="3255264"/>
            <a:ext cx="146304" cy="146304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5" name="Text 22"/>
          <p:cNvSpPr/>
          <p:nvPr/>
        </p:nvSpPr>
        <p:spPr>
          <a:xfrm>
            <a:off x="4096512" y="316382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Researchers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096512" y="347472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Conversational historical climate analytics via TimescaleDB trend queries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4681728"/>
            <a:ext cx="30175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4882896"/>
            <a:ext cx="146304" cy="146304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9" name="Text 26"/>
          <p:cNvSpPr/>
          <p:nvPr/>
        </p:nvSpPr>
        <p:spPr>
          <a:xfrm>
            <a:off x="896112" y="479145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Aviation &amp; Marine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896112" y="5102352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Specialized briefing assistance — decision support, not certified operational use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57600" y="4681728"/>
            <a:ext cx="30175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840480" y="4882896"/>
            <a:ext cx="146304" cy="146304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33" name="Text 30"/>
          <p:cNvSpPr/>
          <p:nvPr/>
        </p:nvSpPr>
        <p:spPr>
          <a:xfrm>
            <a:off x="4096512" y="479145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Planners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4096512" y="5102352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weather intelligence for resource &amp; infrastructure planning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40880" y="1133856"/>
            <a:ext cx="4693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DIMENSIONS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7040880" y="1426464"/>
            <a:ext cx="4693615" cy="1554480"/>
          </a:xfrm>
          <a:prstGeom prst="roundRect">
            <a:avLst>
              <a:gd name="adj" fmla="val 3529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23760" y="1591056"/>
            <a:ext cx="237744" cy="237744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8" name="Text 35"/>
          <p:cNvSpPr/>
          <p:nvPr/>
        </p:nvSpPr>
        <p:spPr>
          <a:xfrm>
            <a:off x="7589520" y="1554480"/>
            <a:ext cx="3962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Impact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333488" y="1938528"/>
            <a:ext cx="414497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Natural-language, voice-based access removes literacy and interface barriers for rural citizens; disaster managers get faster, location-specific hazard information.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040880" y="3136392"/>
            <a:ext cx="4693615" cy="1554480"/>
          </a:xfrm>
          <a:prstGeom prst="roundRect">
            <a:avLst>
              <a:gd name="adj" fmla="val 3529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223760" y="3300984"/>
            <a:ext cx="237744" cy="237744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42" name="Text 39"/>
          <p:cNvSpPr/>
          <p:nvPr/>
        </p:nvSpPr>
        <p:spPr>
          <a:xfrm>
            <a:off x="7589520" y="3264408"/>
            <a:ext cx="3962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 Impact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7333488" y="3648456"/>
            <a:ext cx="414497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Better-timed, weather-linked decisions for agriculture, aviation and marine users; faster dissemination supports efficient disaster response and urban planning.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040880" y="4846320"/>
            <a:ext cx="4693615" cy="1536192"/>
          </a:xfrm>
          <a:prstGeom prst="roundRect">
            <a:avLst>
              <a:gd name="adj" fmla="val 3571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223760" y="5010912"/>
            <a:ext cx="237744" cy="237744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46" name="Text 43"/>
          <p:cNvSpPr/>
          <p:nvPr/>
        </p:nvSpPr>
        <p:spPr>
          <a:xfrm>
            <a:off x="7589520" y="4974336"/>
            <a:ext cx="3962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Environmental Impact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7333488" y="535838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Improved awareness of climate trends and extreme-event risk (heatwaves, rainfall, cyclones) supports weather-informed communities. No unverified statistics claimed.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12064" cy="512064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07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78992" y="4846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3000" dirty="0"/>
          </a:p>
        </p:txBody>
      </p:sp>
      <p:pic>
        <p:nvPicPr>
          <p:cNvPr id="6" name="Image 0" descr="C:\Users\soham\AppData\Local\Temp\claude\C--Users-soham-Desktop-SIH-2026-IITM\f7900fdc-078b-465b-82ad-17378132aa57\scratchpad\iitm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1945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D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IITM BS Degree Programme</a:t>
            </a:r>
            <a:pPr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SIH Internal Hackathon, Presentation Template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48495" y="6510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07 of 08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338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CATEGORIES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426464"/>
            <a:ext cx="5486400" cy="1536192"/>
          </a:xfrm>
          <a:prstGeom prst="roundRect">
            <a:avLst>
              <a:gd name="adj" fmla="val 3571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" y="1563624"/>
            <a:ext cx="5047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METEOROLOGICAL &amp; SCIENTIFIC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IMD  ·  WMO  ·  NOAA/NCEP  ·  NCAR/UCAR  ·  ISRO/MOSDAC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authoritative bodies whose data forms WeatherGPT's grounding layer — consumed, not competed with.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5486400" cy="1536192"/>
          </a:xfrm>
          <a:prstGeom prst="roundRect">
            <a:avLst>
              <a:gd name="adj" fmla="val 3571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3246120"/>
            <a:ext cx="5047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 &amp; LANGUAGE INFRASTRUCTURE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Ministry of Earth Sciences  ·  Digital India BHASHINI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authority plus the national multilingual speech/translation backbone the voice pipeline depends on.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4791456"/>
            <a:ext cx="5486400" cy="1536192"/>
          </a:xfrm>
          <a:prstGeom prst="roundRect">
            <a:avLst>
              <a:gd name="adj" fmla="val 3571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4928616"/>
            <a:ext cx="5047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TECHNOLOGY DOCUMENTATION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/ PostGIS  ·  Flask  ·  Flutter  ·  Docker  ·  Redis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Official documentation for every production framework, keeping choices traceable to primary sources.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63640" y="1426464"/>
            <a:ext cx="5486400" cy="4901184"/>
          </a:xfrm>
          <a:prstGeom prst="roundRect">
            <a:avLst>
              <a:gd name="adj" fmla="val 1119"/>
            </a:avLst>
          </a:prstGeom>
          <a:solidFill>
            <a:srgbClr val="F3F4F8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83096" y="159105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83096" y="1920240"/>
            <a:ext cx="5047488" cy="0"/>
          </a:xfrm>
          <a:prstGeom prst="line">
            <a:avLst/>
          </a:prstGeom>
          <a:noFill/>
          <a:ln w="9525">
            <a:solidFill>
              <a:srgbClr val="7A2333">
                <a:alpha val="4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83096" y="2066544"/>
            <a:ext cx="5047488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</a:t>
            </a:r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1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 Meteorological Department (IMD) — official forecasts, warnings &amp; data services. mausam.imd.gov.in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</a:t>
            </a:r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1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 Meteorological Organization — WIS 2.0 architecture documentation. wis.wmo.int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</a:t>
            </a:r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1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NOAA / NCEP — Global Forecast System (GFS) model documentation. noaa.gov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</a:t>
            </a:r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1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NCAR / UCAR — Weather Research and Forecasting (WRF) Model documentation. mmm.ucar.edu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</a:t>
            </a:r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1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ISRO / MOSDAC — Meteorological &amp; Oceanographic Satellite Data Archival Centre. mosdac.gov.in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</a:t>
            </a:r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1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India BHASHINI — National Language Translation &amp; Speech Mission. bhashini.gov.in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</a:t>
            </a:r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1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Global Development Group / PostGIS — official spatial database docs. postgresql.org · postgis.net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</a:t>
            </a:r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150" i="1" dirty="0">
                <a:solidFill>
                  <a:srgbClr val="3436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Pallets Projects (Flask) &amp; Google (Flutter) — official framework documentation. flask.palletsprojects.com · flutter.dev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12064" cy="512064"/>
          </a:xfrm>
          <a:prstGeom prst="ellipse">
            <a:avLst/>
          </a:prstGeom>
          <a:solidFill>
            <a:srgbClr val="7A2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08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78992" y="4846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 Summary</a:t>
            </a:r>
            <a:endParaRPr lang="en-US" sz="3000" dirty="0"/>
          </a:p>
        </p:txBody>
      </p:sp>
      <p:pic>
        <p:nvPicPr>
          <p:cNvPr id="6" name="Image 0" descr="C:\Users\soham\AppData\Local\Temp\claude\C--Users-soham-Desktop-SIH-2026-IITM\f7900fdc-078b-465b-82ad-17378132aa57\scratchpad\iitm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1945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D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IITM BS Degree Programme</a:t>
            </a:r>
            <a:pPr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SIH Internal Hackathon, Presentation Template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48495" y="6510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5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08 of 08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338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4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WEATHERGPT IS BUILT 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426464"/>
            <a:ext cx="1776984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426464"/>
            <a:ext cx="17769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380488" y="1426464"/>
            <a:ext cx="1776984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/>
        </p:spPr>
      </p:sp>
      <p:sp>
        <p:nvSpPr>
          <p:cNvPr id="14" name="Text 11"/>
          <p:cNvSpPr/>
          <p:nvPr/>
        </p:nvSpPr>
        <p:spPr>
          <a:xfrm>
            <a:off x="2380488" y="1426464"/>
            <a:ext cx="17769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03776" y="1426464"/>
            <a:ext cx="1776984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/>
        </p:spPr>
      </p:sp>
      <p:sp>
        <p:nvSpPr>
          <p:cNvPr id="16" name="Text 13"/>
          <p:cNvSpPr/>
          <p:nvPr/>
        </p:nvSpPr>
        <p:spPr>
          <a:xfrm>
            <a:off x="4303776" y="1426464"/>
            <a:ext cx="17769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MET. DATA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2194560"/>
            <a:ext cx="1776984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194560"/>
            <a:ext cx="17769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NWP (GFS/WRF)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380488" y="2194560"/>
            <a:ext cx="1776984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/>
        </p:spPr>
      </p:sp>
      <p:sp>
        <p:nvSpPr>
          <p:cNvPr id="20" name="Text 17"/>
          <p:cNvSpPr/>
          <p:nvPr/>
        </p:nvSpPr>
        <p:spPr>
          <a:xfrm>
            <a:off x="2380488" y="2194560"/>
            <a:ext cx="17769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GIS (POSTGIS)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03776" y="2194560"/>
            <a:ext cx="1776984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/>
        </p:spPr>
      </p:sp>
      <p:sp>
        <p:nvSpPr>
          <p:cNvPr id="22" name="Text 19"/>
          <p:cNvSpPr/>
          <p:nvPr/>
        </p:nvSpPr>
        <p:spPr>
          <a:xfrm>
            <a:off x="4303776" y="2194560"/>
            <a:ext cx="17769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/ RAG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2962656"/>
            <a:ext cx="1776984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2962656"/>
            <a:ext cx="17769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MULTILINGUAL VOICE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380488" y="2962656"/>
            <a:ext cx="1776984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/>
        </p:spPr>
      </p:sp>
      <p:sp>
        <p:nvSpPr>
          <p:cNvPr id="26" name="Text 23"/>
          <p:cNvSpPr/>
          <p:nvPr/>
        </p:nvSpPr>
        <p:spPr>
          <a:xfrm>
            <a:off x="2380488" y="2962656"/>
            <a:ext cx="17769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ALERTS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03776" y="2962656"/>
            <a:ext cx="1776984" cy="621792"/>
          </a:xfrm>
          <a:prstGeom prst="roundRect">
            <a:avLst>
              <a:gd name="adj" fmla="val 7353"/>
            </a:avLst>
          </a:prstGeom>
          <a:solidFill>
            <a:srgbClr val="1E2555"/>
          </a:solidFill>
          <a:ln/>
        </p:spPr>
      </p:sp>
      <p:sp>
        <p:nvSpPr>
          <p:cNvPr id="28" name="Text 25"/>
          <p:cNvSpPr/>
          <p:nvPr/>
        </p:nvSpPr>
        <p:spPr>
          <a:xfrm>
            <a:off x="4303776" y="2962656"/>
            <a:ext cx="17769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CLIMATE ANALYTICS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3730752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457200" y="4096512"/>
            <a:ext cx="5623560" cy="640080"/>
          </a:xfrm>
          <a:prstGeom prst="roundRect">
            <a:avLst>
              <a:gd name="adj" fmla="val 8571"/>
            </a:avLst>
          </a:prstGeom>
          <a:solidFill>
            <a:srgbClr val="D4A94A"/>
          </a:solidFill>
          <a:ln w="9525">
            <a:solidFill>
              <a:srgbClr val="B8872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096512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WEATHERGPT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457200" y="4956048"/>
            <a:ext cx="5623560" cy="1444752"/>
          </a:xfrm>
          <a:prstGeom prst="roundRect">
            <a:avLst>
              <a:gd name="adj" fmla="val 4430"/>
            </a:avLst>
          </a:prstGeom>
          <a:solidFill>
            <a:srgbClr val="141A42"/>
          </a:solidFill>
          <a:ln/>
        </p:spPr>
      </p:sp>
      <p:sp>
        <p:nvSpPr>
          <p:cNvPr id="33" name="Text 30"/>
          <p:cNvSpPr/>
          <p:nvPr/>
        </p:nvSpPr>
        <p:spPr>
          <a:xfrm>
            <a:off x="694944" y="4956048"/>
            <a:ext cx="51480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100" b="1" spc="100" kern="0" dirty="0">
                <a:solidFill>
                  <a:srgbClr val="D4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CENTRAL MESSAGE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WeatherGPT does not replace meteorological intelligence — it makes authoritative meteorological intelligence conversational, contextual, location-aware and accessible.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26464"/>
          <a:ext cx="5440680" cy="4754880"/>
        </p:xfrm>
        <a:graphic>
          <a:graphicData uri="http://schemas.openxmlformats.org/drawingml/2006/table">
            <a:tbl>
              <a:tblPr/>
              <a:tblGrid>
                <a:gridCol w="1188720"/>
                <a:gridCol w="4251960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Criterion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Summary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5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Problem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Meteorological intelligence is scattered across portals, bulletins, satellite/radar products and NWP outputs, making fast answers hard to obtain.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Proposed Solution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multilingual, voice-enabled platform grounding every LLM response in live IMD/WIS2/GFS/WRF/MOSDAC data via retrieval and tool-calling, with GIS reasoning and deterministic alerting.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Novelty / USP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Grounded conversational intelligence + location-aware risk reasoning + deterministic alerting + Indian-language voice accessibility, integrated in one system.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Feasibility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Built on mature, production-proven technologies — Flutter, Flask, PostgreSQL/PostGIS, TimescaleDB, Redis, WIS2/MQTT, BHASHINI, Docker — with a realistic deployment path.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2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Impact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34363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Faster, accessible, location-aware weather intelligence for citizens, farmers, disaster managers, researchers and aviation/marine users.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WeatherGPT - SIH 2026</dc:title>
  <dc:subject>PptxGenJS Presentation</dc:subject>
  <dc:creator>Team Vajra Prahar</dc:creator>
  <cp:lastModifiedBy>Team Vajra Prahar</cp:lastModifiedBy>
  <cp:revision>1</cp:revision>
  <dcterms:created xsi:type="dcterms:W3CDTF">2026-08-27T02:44:29Z</dcterms:created>
  <dcterms:modified xsi:type="dcterms:W3CDTF">2026-08-27T02:44:29Z</dcterms:modified>
</cp:coreProperties>
</file>